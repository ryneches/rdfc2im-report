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121539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7694" y="92074"/>
            <a:ext cx="10938511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7694" y="1600200"/>
            <a:ext cx="10938511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74385" y="6172200"/>
            <a:ext cx="283591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"/>
          <p:cNvSpPr txBox="1"/>
          <p:nvPr/>
        </p:nvSpPr>
        <p:spPr>
          <a:xfrm>
            <a:off x="-3811" y="466557"/>
            <a:ext cx="12161522" cy="81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4999"/>
              </a:lnSpc>
              <a:defRPr b="1" sz="2700">
                <a:solidFill>
                  <a:srgbClr val="5E7A24"/>
                </a:solidFill>
              </a:defRPr>
            </a:pPr>
            <a:r>
              <a:t>Building HumanMine with rdf-config</a:t>
            </a:r>
          </a:p>
          <a:p>
            <a:pPr algn="ctr">
              <a:lnSpc>
                <a:spcPct val="104999"/>
              </a:lnSpc>
              <a:defRPr sz="2500">
                <a:solidFill>
                  <a:srgbClr val="5E7A24"/>
                </a:solidFill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rdf-config で HumanMine を構築する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-1" y="1399032"/>
            <a:ext cx="12161522" cy="529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2000"/>
              </a:lnSpc>
              <a:defRPr sz="1700"/>
            </a:pPr>
            <a:r>
              <a:t>Clean, separate RDF sources  →  one integrated model</a:t>
            </a:r>
          </a:p>
          <a:p>
            <a:pPr algn="ctr">
              <a:lnSpc>
                <a:spcPct val="102000"/>
              </a:lnSpc>
              <a:defRPr sz="17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独立した RDF ソース  →  統合されたデータモデル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960119" y="2004060"/>
            <a:ext cx="2788922" cy="4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2000"/>
              </a:lnSpc>
              <a:defRPr b="1" sz="1600"/>
            </a:pPr>
            <a:r>
              <a:t>rdf-config · RDF Portal</a:t>
            </a:r>
          </a:p>
          <a:p>
            <a:pPr algn="ctr">
              <a:lnSpc>
                <a:spcPct val="102000"/>
              </a:lnSpc>
              <a:defRPr sz="16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独立したソース</a:t>
            </a:r>
          </a:p>
        </p:txBody>
      </p:sp>
      <p:sp>
        <p:nvSpPr>
          <p:cNvPr id="23" name="Text 4"/>
          <p:cNvSpPr txBox="1"/>
          <p:nvPr/>
        </p:nvSpPr>
        <p:spPr>
          <a:xfrm>
            <a:off x="8503919" y="2004060"/>
            <a:ext cx="2788921" cy="461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2000"/>
              </a:lnSpc>
              <a:defRPr b="1" sz="1600"/>
            </a:pPr>
            <a:r>
              <a:t>InterMine · HumanMine</a:t>
            </a:r>
          </a:p>
          <a:p>
            <a:pPr algn="ctr">
              <a:lnSpc>
                <a:spcPct val="102000"/>
              </a:lnSpc>
              <a:defRPr sz="16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統合モデル</a:t>
            </a:r>
          </a:p>
        </p:txBody>
      </p:sp>
      <p:sp>
        <p:nvSpPr>
          <p:cNvPr id="24" name="Shape 5"/>
          <p:cNvSpPr/>
          <p:nvPr/>
        </p:nvSpPr>
        <p:spPr>
          <a:xfrm>
            <a:off x="3291840" y="2717292"/>
            <a:ext cx="5577841" cy="950976"/>
          </a:xfrm>
          <a:prstGeom prst="line">
            <a:avLst/>
          </a:prstGeom>
          <a:ln w="22225">
            <a:solidFill>
              <a:srgbClr val="566470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6"/>
          <p:cNvSpPr/>
          <p:nvPr/>
        </p:nvSpPr>
        <p:spPr>
          <a:xfrm>
            <a:off x="3291840" y="2717292"/>
            <a:ext cx="5577841" cy="100585"/>
          </a:xfrm>
          <a:prstGeom prst="line">
            <a:avLst/>
          </a:prstGeom>
          <a:ln w="22225">
            <a:solidFill>
              <a:srgbClr val="9CBE3B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7"/>
          <p:cNvSpPr/>
          <p:nvPr/>
        </p:nvSpPr>
        <p:spPr>
          <a:xfrm flipV="1">
            <a:off x="3291840" y="2817876"/>
            <a:ext cx="5577841" cy="356617"/>
          </a:xfrm>
          <a:prstGeom prst="line">
            <a:avLst/>
          </a:prstGeom>
          <a:ln w="22225">
            <a:solidFill>
              <a:srgbClr val="9CBE3B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8"/>
          <p:cNvSpPr/>
          <p:nvPr/>
        </p:nvSpPr>
        <p:spPr>
          <a:xfrm flipV="1">
            <a:off x="3291840" y="2817876"/>
            <a:ext cx="5577841" cy="813817"/>
          </a:xfrm>
          <a:prstGeom prst="line">
            <a:avLst/>
          </a:prstGeom>
          <a:ln w="22225">
            <a:solidFill>
              <a:srgbClr val="9CBE3B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9"/>
          <p:cNvSpPr/>
          <p:nvPr/>
        </p:nvSpPr>
        <p:spPr>
          <a:xfrm flipV="1">
            <a:off x="3291840" y="2817876"/>
            <a:ext cx="5577841" cy="1271017"/>
          </a:xfrm>
          <a:prstGeom prst="line">
            <a:avLst/>
          </a:prstGeom>
          <a:ln w="22225">
            <a:solidFill>
              <a:srgbClr val="9CBE3B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10"/>
          <p:cNvSpPr/>
          <p:nvPr/>
        </p:nvSpPr>
        <p:spPr>
          <a:xfrm flipV="1">
            <a:off x="3291840" y="3668267"/>
            <a:ext cx="5577841" cy="420625"/>
          </a:xfrm>
          <a:prstGeom prst="line">
            <a:avLst/>
          </a:prstGeom>
          <a:ln w="22225">
            <a:solidFill>
              <a:srgbClr val="566470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1"/>
          <p:cNvSpPr/>
          <p:nvPr/>
        </p:nvSpPr>
        <p:spPr>
          <a:xfrm>
            <a:off x="3291840" y="4546091"/>
            <a:ext cx="5577841" cy="822961"/>
          </a:xfrm>
          <a:prstGeom prst="line">
            <a:avLst/>
          </a:prstGeom>
          <a:ln w="22225">
            <a:solidFill>
              <a:srgbClr val="B9962E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12"/>
          <p:cNvSpPr/>
          <p:nvPr/>
        </p:nvSpPr>
        <p:spPr>
          <a:xfrm flipV="1">
            <a:off x="3291840" y="2817876"/>
            <a:ext cx="5577841" cy="1728217"/>
          </a:xfrm>
          <a:prstGeom prst="line">
            <a:avLst/>
          </a:prstGeom>
          <a:ln w="22225">
            <a:solidFill>
              <a:srgbClr val="9CBE3B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hape 13"/>
          <p:cNvSpPr/>
          <p:nvPr/>
        </p:nvSpPr>
        <p:spPr>
          <a:xfrm flipV="1">
            <a:off x="3291840" y="4518659"/>
            <a:ext cx="5577841" cy="484633"/>
          </a:xfrm>
          <a:prstGeom prst="line">
            <a:avLst/>
          </a:prstGeom>
          <a:ln w="22225">
            <a:solidFill>
              <a:srgbClr val="D99A34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14"/>
          <p:cNvSpPr/>
          <p:nvPr/>
        </p:nvSpPr>
        <p:spPr>
          <a:xfrm flipV="1">
            <a:off x="3291840" y="3668267"/>
            <a:ext cx="5577841" cy="1335026"/>
          </a:xfrm>
          <a:prstGeom prst="line">
            <a:avLst/>
          </a:prstGeom>
          <a:ln w="22225">
            <a:solidFill>
              <a:srgbClr val="566470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15"/>
          <p:cNvSpPr/>
          <p:nvPr/>
        </p:nvSpPr>
        <p:spPr>
          <a:xfrm flipV="1">
            <a:off x="3291840" y="3668267"/>
            <a:ext cx="5577841" cy="1792225"/>
          </a:xfrm>
          <a:prstGeom prst="line">
            <a:avLst/>
          </a:prstGeom>
          <a:ln w="22225">
            <a:solidFill>
              <a:srgbClr val="566470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Shape 16"/>
          <p:cNvSpPr/>
          <p:nvPr/>
        </p:nvSpPr>
        <p:spPr>
          <a:xfrm>
            <a:off x="1417319" y="2534411"/>
            <a:ext cx="1874522" cy="365761"/>
          </a:xfrm>
          <a:prstGeom prst="roundRect">
            <a:avLst>
              <a:gd name="adj" fmla="val 17500"/>
            </a:avLst>
          </a:prstGeom>
          <a:solidFill>
            <a:srgbClr val="FBF3E1"/>
          </a:solidFill>
          <a:ln w="12700">
            <a:solidFill>
              <a:srgbClr val="D99A34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" name="Text 17"/>
          <p:cNvSpPr txBox="1"/>
          <p:nvPr/>
        </p:nvSpPr>
        <p:spPr>
          <a:xfrm>
            <a:off x="1417319" y="2612715"/>
            <a:ext cx="1874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6A5015"/>
                </a:solidFill>
              </a:defRPr>
            </a:lvl1pPr>
          </a:lstStyle>
          <a:p>
            <a:pPr/>
            <a:r>
              <a:t>UniProt</a:t>
            </a:r>
          </a:p>
        </p:txBody>
      </p:sp>
      <p:sp>
        <p:nvSpPr>
          <p:cNvPr id="37" name="Shape 18"/>
          <p:cNvSpPr/>
          <p:nvPr/>
        </p:nvSpPr>
        <p:spPr>
          <a:xfrm>
            <a:off x="1417319" y="2991611"/>
            <a:ext cx="1874522" cy="365761"/>
          </a:xfrm>
          <a:prstGeom prst="roundRect">
            <a:avLst>
              <a:gd name="adj" fmla="val 17500"/>
            </a:avLst>
          </a:prstGeom>
          <a:solidFill>
            <a:srgbClr val="FBF3E1"/>
          </a:solidFill>
          <a:ln w="12700">
            <a:solidFill>
              <a:srgbClr val="D99A34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" name="Text 19"/>
          <p:cNvSpPr txBox="1"/>
          <p:nvPr/>
        </p:nvSpPr>
        <p:spPr>
          <a:xfrm>
            <a:off x="1417319" y="3069915"/>
            <a:ext cx="1874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6A5015"/>
                </a:solidFill>
              </a:defRPr>
            </a:lvl1pPr>
          </a:lstStyle>
          <a:p>
            <a:pPr/>
            <a:r>
              <a:t>NCBI Gene</a:t>
            </a:r>
          </a:p>
        </p:txBody>
      </p:sp>
      <p:sp>
        <p:nvSpPr>
          <p:cNvPr id="39" name="Shape 20"/>
          <p:cNvSpPr/>
          <p:nvPr/>
        </p:nvSpPr>
        <p:spPr>
          <a:xfrm>
            <a:off x="1417319" y="3448811"/>
            <a:ext cx="1874522" cy="365761"/>
          </a:xfrm>
          <a:prstGeom prst="roundRect">
            <a:avLst>
              <a:gd name="adj" fmla="val 17500"/>
            </a:avLst>
          </a:prstGeom>
          <a:solidFill>
            <a:srgbClr val="FBF3E1"/>
          </a:solidFill>
          <a:ln w="12700">
            <a:solidFill>
              <a:srgbClr val="D99A34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" name="Text 21"/>
          <p:cNvSpPr txBox="1"/>
          <p:nvPr/>
        </p:nvSpPr>
        <p:spPr>
          <a:xfrm>
            <a:off x="1417319" y="3527115"/>
            <a:ext cx="1874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6A5015"/>
                </a:solidFill>
              </a:defRPr>
            </a:lvl1pPr>
          </a:lstStyle>
          <a:p>
            <a:pPr/>
            <a:r>
              <a:t>HGNC</a:t>
            </a:r>
          </a:p>
        </p:txBody>
      </p:sp>
      <p:sp>
        <p:nvSpPr>
          <p:cNvPr id="41" name="Shape 22"/>
          <p:cNvSpPr/>
          <p:nvPr/>
        </p:nvSpPr>
        <p:spPr>
          <a:xfrm>
            <a:off x="1417319" y="3906011"/>
            <a:ext cx="1874522" cy="365761"/>
          </a:xfrm>
          <a:prstGeom prst="roundRect">
            <a:avLst>
              <a:gd name="adj" fmla="val 17500"/>
            </a:avLst>
          </a:prstGeom>
          <a:solidFill>
            <a:srgbClr val="FBF3E1"/>
          </a:solidFill>
          <a:ln w="12700">
            <a:solidFill>
              <a:srgbClr val="D99A34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" name="Text 23"/>
          <p:cNvSpPr txBox="1"/>
          <p:nvPr/>
        </p:nvSpPr>
        <p:spPr>
          <a:xfrm>
            <a:off x="1417319" y="3984315"/>
            <a:ext cx="1874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6A5015"/>
                </a:solidFill>
              </a:defRPr>
            </a:lvl1pPr>
          </a:lstStyle>
          <a:p>
            <a:pPr/>
            <a:r>
              <a:t>Ensembl</a:t>
            </a:r>
          </a:p>
        </p:txBody>
      </p:sp>
      <p:sp>
        <p:nvSpPr>
          <p:cNvPr id="43" name="Shape 24"/>
          <p:cNvSpPr/>
          <p:nvPr/>
        </p:nvSpPr>
        <p:spPr>
          <a:xfrm>
            <a:off x="1417319" y="4363211"/>
            <a:ext cx="1874522" cy="365761"/>
          </a:xfrm>
          <a:prstGeom prst="roundRect">
            <a:avLst>
              <a:gd name="adj" fmla="val 17500"/>
            </a:avLst>
          </a:prstGeom>
          <a:solidFill>
            <a:srgbClr val="FBF3E1"/>
          </a:solidFill>
          <a:ln w="12700">
            <a:solidFill>
              <a:srgbClr val="D99A34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" name="Text 25"/>
          <p:cNvSpPr txBox="1"/>
          <p:nvPr/>
        </p:nvSpPr>
        <p:spPr>
          <a:xfrm>
            <a:off x="1417319" y="4441515"/>
            <a:ext cx="1874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6A5015"/>
                </a:solidFill>
              </a:defRPr>
            </a:lvl1pPr>
          </a:lstStyle>
          <a:p>
            <a:pPr/>
            <a:r>
              <a:t>GO</a:t>
            </a:r>
          </a:p>
        </p:txBody>
      </p:sp>
      <p:sp>
        <p:nvSpPr>
          <p:cNvPr id="45" name="Shape 26"/>
          <p:cNvSpPr/>
          <p:nvPr/>
        </p:nvSpPr>
        <p:spPr>
          <a:xfrm>
            <a:off x="1417319" y="4820411"/>
            <a:ext cx="1874522" cy="365761"/>
          </a:xfrm>
          <a:prstGeom prst="roundRect">
            <a:avLst>
              <a:gd name="adj" fmla="val 17500"/>
            </a:avLst>
          </a:prstGeom>
          <a:solidFill>
            <a:srgbClr val="FBF3E1"/>
          </a:solidFill>
          <a:ln w="12700">
            <a:solidFill>
              <a:srgbClr val="D99A34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" name="Text 27"/>
          <p:cNvSpPr txBox="1"/>
          <p:nvPr/>
        </p:nvSpPr>
        <p:spPr>
          <a:xfrm>
            <a:off x="1417319" y="4898715"/>
            <a:ext cx="1874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6A5015"/>
                </a:solidFill>
              </a:defRPr>
            </a:lvl1pPr>
          </a:lstStyle>
          <a:p>
            <a:pPr/>
            <a:r>
              <a:t>Reactome</a:t>
            </a:r>
          </a:p>
        </p:txBody>
      </p:sp>
      <p:sp>
        <p:nvSpPr>
          <p:cNvPr id="47" name="Shape 28"/>
          <p:cNvSpPr/>
          <p:nvPr/>
        </p:nvSpPr>
        <p:spPr>
          <a:xfrm>
            <a:off x="1417319" y="5277611"/>
            <a:ext cx="1874522" cy="365761"/>
          </a:xfrm>
          <a:prstGeom prst="roundRect">
            <a:avLst>
              <a:gd name="adj" fmla="val 17500"/>
            </a:avLst>
          </a:prstGeom>
          <a:solidFill>
            <a:srgbClr val="FBF3E1"/>
          </a:solidFill>
          <a:ln w="12700">
            <a:solidFill>
              <a:srgbClr val="D99A34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" name="Text 29"/>
          <p:cNvSpPr txBox="1"/>
          <p:nvPr/>
        </p:nvSpPr>
        <p:spPr>
          <a:xfrm>
            <a:off x="1417319" y="5355915"/>
            <a:ext cx="1874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6A5015"/>
                </a:solidFill>
              </a:defRPr>
            </a:lvl1pPr>
          </a:lstStyle>
          <a:p>
            <a:pPr/>
            <a:r>
              <a:t>InterPro</a:t>
            </a:r>
          </a:p>
        </p:txBody>
      </p:sp>
      <p:sp>
        <p:nvSpPr>
          <p:cNvPr id="49" name="Shape 30"/>
          <p:cNvSpPr/>
          <p:nvPr/>
        </p:nvSpPr>
        <p:spPr>
          <a:xfrm>
            <a:off x="8869680" y="2552700"/>
            <a:ext cx="2057401" cy="530352"/>
          </a:xfrm>
          <a:prstGeom prst="roundRect">
            <a:avLst>
              <a:gd name="adj" fmla="val 13793"/>
            </a:avLst>
          </a:prstGeom>
          <a:solidFill>
            <a:srgbClr val="EDF4DC"/>
          </a:solidFill>
          <a:ln w="22225">
            <a:solidFill>
              <a:srgbClr val="9CBE3B"/>
            </a:solidFill>
          </a:ln>
          <a:effectLst>
            <a:outerShdw sx="100000" sy="100000" kx="0" ky="0" algn="b" rotWithShape="0" blurRad="101600" dist="25400" dir="54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" name="Text 31"/>
          <p:cNvSpPr txBox="1"/>
          <p:nvPr/>
        </p:nvSpPr>
        <p:spPr>
          <a:xfrm>
            <a:off x="8869680" y="2624144"/>
            <a:ext cx="2057401" cy="387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0000"/>
              </a:lnSpc>
              <a:defRPr b="1" sz="1400"/>
            </a:pPr>
            <a:r>
              <a:t>Gene</a:t>
            </a:r>
          </a:p>
          <a:p>
            <a:pPr algn="ctr">
              <a:lnSpc>
                <a:spcPct val="90000"/>
              </a:lnSpc>
              <a:defRPr sz="14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遺伝子</a:t>
            </a:r>
          </a:p>
        </p:txBody>
      </p:sp>
      <p:sp>
        <p:nvSpPr>
          <p:cNvPr id="51" name="Shape 32"/>
          <p:cNvSpPr/>
          <p:nvPr/>
        </p:nvSpPr>
        <p:spPr>
          <a:xfrm>
            <a:off x="8869680" y="3403091"/>
            <a:ext cx="2057401" cy="530353"/>
          </a:xfrm>
          <a:prstGeom prst="roundRect">
            <a:avLst>
              <a:gd name="adj" fmla="val 13793"/>
            </a:avLst>
          </a:prstGeom>
          <a:solidFill>
            <a:srgbClr val="EDF4DC"/>
          </a:solidFill>
          <a:ln w="22225">
            <a:solidFill>
              <a:srgbClr val="9CBE3B"/>
            </a:solidFill>
          </a:ln>
          <a:effectLst>
            <a:outerShdw sx="100000" sy="100000" kx="0" ky="0" algn="b" rotWithShape="0" blurRad="101600" dist="25400" dir="54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" name="Text 33"/>
          <p:cNvSpPr txBox="1"/>
          <p:nvPr/>
        </p:nvSpPr>
        <p:spPr>
          <a:xfrm>
            <a:off x="8869680" y="3474535"/>
            <a:ext cx="2057401" cy="387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0000"/>
              </a:lnSpc>
              <a:defRPr b="1" sz="1400"/>
            </a:pPr>
            <a:r>
              <a:t>Protein</a:t>
            </a:r>
          </a:p>
          <a:p>
            <a:pPr algn="ctr">
              <a:lnSpc>
                <a:spcPct val="90000"/>
              </a:lnSpc>
              <a:defRPr sz="14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タンパク質</a:t>
            </a:r>
          </a:p>
        </p:txBody>
      </p:sp>
      <p:sp>
        <p:nvSpPr>
          <p:cNvPr id="53" name="Shape 34"/>
          <p:cNvSpPr/>
          <p:nvPr/>
        </p:nvSpPr>
        <p:spPr>
          <a:xfrm>
            <a:off x="8869680" y="4253484"/>
            <a:ext cx="2057401" cy="530353"/>
          </a:xfrm>
          <a:prstGeom prst="roundRect">
            <a:avLst>
              <a:gd name="adj" fmla="val 13793"/>
            </a:avLst>
          </a:prstGeom>
          <a:solidFill>
            <a:srgbClr val="EDF4DC"/>
          </a:solidFill>
          <a:ln w="22225">
            <a:solidFill>
              <a:srgbClr val="9CBE3B"/>
            </a:solidFill>
          </a:ln>
          <a:effectLst>
            <a:outerShdw sx="100000" sy="100000" kx="0" ky="0" algn="b" rotWithShape="0" blurRad="101600" dist="25400" dir="54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" name="Text 35"/>
          <p:cNvSpPr txBox="1"/>
          <p:nvPr/>
        </p:nvSpPr>
        <p:spPr>
          <a:xfrm>
            <a:off x="8869680" y="4324928"/>
            <a:ext cx="2057401" cy="387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0000"/>
              </a:lnSpc>
              <a:defRPr b="1" sz="1400"/>
            </a:pPr>
            <a:r>
              <a:t>Pathway</a:t>
            </a:r>
          </a:p>
          <a:p>
            <a:pPr algn="ctr">
              <a:lnSpc>
                <a:spcPct val="90000"/>
              </a:lnSpc>
              <a:defRPr sz="14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経路</a:t>
            </a:r>
          </a:p>
        </p:txBody>
      </p:sp>
      <p:sp>
        <p:nvSpPr>
          <p:cNvPr id="55" name="Shape 36"/>
          <p:cNvSpPr/>
          <p:nvPr/>
        </p:nvSpPr>
        <p:spPr>
          <a:xfrm>
            <a:off x="8869680" y="5103876"/>
            <a:ext cx="2057401" cy="530353"/>
          </a:xfrm>
          <a:prstGeom prst="roundRect">
            <a:avLst>
              <a:gd name="adj" fmla="val 13793"/>
            </a:avLst>
          </a:prstGeom>
          <a:solidFill>
            <a:srgbClr val="EDF4DC"/>
          </a:solidFill>
          <a:ln w="22225">
            <a:solidFill>
              <a:srgbClr val="9CBE3B"/>
            </a:solidFill>
          </a:ln>
          <a:effectLst>
            <a:outerShdw sx="100000" sy="100000" kx="0" ky="0" algn="b" rotWithShape="0" blurRad="101600" dist="25400" dir="54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" name="Text 37"/>
          <p:cNvSpPr txBox="1"/>
          <p:nvPr/>
        </p:nvSpPr>
        <p:spPr>
          <a:xfrm>
            <a:off x="8869680" y="5156270"/>
            <a:ext cx="2057401" cy="425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0000"/>
              </a:lnSpc>
              <a:defRPr b="1" sz="1400"/>
            </a:pPr>
            <a:r>
              <a:t>GO Term</a:t>
            </a:r>
          </a:p>
          <a:p>
            <a:pPr algn="ctr">
              <a:lnSpc>
                <a:spcPct val="90000"/>
              </a:lnSpc>
              <a:defRPr sz="14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GO 用語</a:t>
            </a:r>
          </a:p>
        </p:txBody>
      </p:sp>
      <p:sp>
        <p:nvSpPr>
          <p:cNvPr id="57" name="Text 38"/>
          <p:cNvSpPr txBox="1"/>
          <p:nvPr/>
        </p:nvSpPr>
        <p:spPr>
          <a:xfrm>
            <a:off x="-1" y="5806440"/>
            <a:ext cx="12161522" cy="525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2000"/>
              </a:lnSpc>
              <a:defRPr>
                <a:solidFill>
                  <a:srgbClr val="5A5A5A"/>
                </a:solidFill>
              </a:defRPr>
            </a:pPr>
            <a:r>
              <a:t>Every integrated class is assembled from many separate sources.</a:t>
            </a:r>
          </a:p>
          <a:p>
            <a:pPr algn="ctr">
              <a:lnSpc>
                <a:spcPct val="102000"/>
              </a:lnSpc>
              <a:defRPr>
                <a:solidFill>
                  <a:srgbClr val="5A5A5A"/>
                </a:solidFill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統合された各クラスは、多数の独立したソースから組み立てられる。</a:t>
            </a:r>
          </a:p>
        </p:txBody>
      </p:sp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67623" y="190246"/>
            <a:ext cx="2534385" cy="326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8363" y="150876"/>
            <a:ext cx="2872524" cy="481148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Text 0"/>
          <p:cNvSpPr txBox="1"/>
          <p:nvPr/>
        </p:nvSpPr>
        <p:spPr>
          <a:xfrm>
            <a:off x="-1074420" y="760729"/>
            <a:ext cx="25603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500">
                <a:solidFill>
                  <a:srgbClr val="9A9A9A"/>
                </a:solidFill>
              </a:defRPr>
            </a:lvl1pPr>
          </a:lstStyle>
          <a:p>
            <a:pPr/>
            <a:r>
              <a:t>rdf-config</a:t>
            </a:r>
          </a:p>
        </p:txBody>
      </p:sp>
      <p:sp>
        <p:nvSpPr>
          <p:cNvPr id="61" name="Shape 13"/>
          <p:cNvSpPr/>
          <p:nvPr/>
        </p:nvSpPr>
        <p:spPr>
          <a:xfrm>
            <a:off x="3293323" y="2695265"/>
            <a:ext cx="5567254" cy="1808956"/>
          </a:xfrm>
          <a:prstGeom prst="line">
            <a:avLst/>
          </a:prstGeom>
          <a:ln w="22225">
            <a:solidFill>
              <a:srgbClr val="D99A34">
                <a:alpha val="7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67623" y="190246"/>
            <a:ext cx="2534386" cy="326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8363" y="150876"/>
            <a:ext cx="2872524" cy="481148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Text 0"/>
          <p:cNvSpPr txBox="1"/>
          <p:nvPr/>
        </p:nvSpPr>
        <p:spPr>
          <a:xfrm>
            <a:off x="-1074420" y="760729"/>
            <a:ext cx="25603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500">
                <a:solidFill>
                  <a:srgbClr val="9A9A9A"/>
                </a:solidFill>
              </a:defRPr>
            </a:lvl1pPr>
          </a:lstStyle>
          <a:p>
            <a:pPr/>
            <a:r>
              <a:t>rdf-config</a:t>
            </a:r>
          </a:p>
        </p:txBody>
      </p:sp>
      <p:sp>
        <p:nvSpPr>
          <p:cNvPr id="66" name="Text 1"/>
          <p:cNvSpPr txBox="1"/>
          <p:nvPr/>
        </p:nvSpPr>
        <p:spPr>
          <a:xfrm>
            <a:off x="-245111" y="874177"/>
            <a:ext cx="12161522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800">
                <a:solidFill>
                  <a:srgbClr val="5E7A24"/>
                </a:solidFill>
              </a:defRPr>
            </a:pPr>
            <a:r>
              <a:t>Overall workflow</a:t>
            </a:r>
          </a:p>
          <a:p>
            <a:pPr algn="ctr">
              <a:defRPr sz="2600">
                <a:solidFill>
                  <a:srgbClr val="5E7A24"/>
                </a:solidFill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全体のワークフロー</a:t>
            </a:r>
          </a:p>
        </p:txBody>
      </p:sp>
      <p:sp>
        <p:nvSpPr>
          <p:cNvPr id="67" name="Shape 2"/>
          <p:cNvSpPr/>
          <p:nvPr/>
        </p:nvSpPr>
        <p:spPr>
          <a:xfrm>
            <a:off x="530351" y="1828800"/>
            <a:ext cx="2487169" cy="3063240"/>
          </a:xfrm>
          <a:prstGeom prst="roundRect">
            <a:avLst>
              <a:gd name="adj" fmla="val 3676"/>
            </a:avLst>
          </a:prstGeom>
          <a:solidFill>
            <a:srgbClr val="FBF1DF"/>
          </a:solidFill>
          <a:ln w="12700">
            <a:solidFill>
              <a:srgbClr val="D99A34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" name="Shape 3"/>
          <p:cNvSpPr/>
          <p:nvPr/>
        </p:nvSpPr>
        <p:spPr>
          <a:xfrm>
            <a:off x="1463039" y="2048255"/>
            <a:ext cx="621793" cy="621793"/>
          </a:xfrm>
          <a:prstGeom prst="ellipse">
            <a:avLst/>
          </a:prstGeom>
          <a:solidFill>
            <a:srgbClr val="D99A34"/>
          </a:solidFill>
          <a:ln w="12700">
            <a:miter lim="400000"/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6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00200" y="2185416"/>
            <a:ext cx="347473" cy="347473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Text 4"/>
          <p:cNvSpPr txBox="1"/>
          <p:nvPr/>
        </p:nvSpPr>
        <p:spPr>
          <a:xfrm>
            <a:off x="530352" y="2790410"/>
            <a:ext cx="2487168" cy="27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/>
            </a:lvl1pPr>
          </a:lstStyle>
          <a:p>
            <a:pPr/>
            <a:r>
              <a:t>1 · Models</a:t>
            </a:r>
          </a:p>
        </p:txBody>
      </p:sp>
      <p:sp>
        <p:nvSpPr>
          <p:cNvPr id="71" name="Text 5"/>
          <p:cNvSpPr txBox="1"/>
          <p:nvPr/>
        </p:nvSpPr>
        <p:spPr>
          <a:xfrm>
            <a:off x="530352" y="3054731"/>
            <a:ext cx="2487168" cy="27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100">
                <a:latin typeface="Noto Sans CJK JP"/>
                <a:ea typeface="Noto Sans CJK JP"/>
                <a:cs typeface="Noto Sans CJK JP"/>
                <a:sym typeface="Noto Sans CJK JP"/>
              </a:defRPr>
            </a:lvl1pPr>
          </a:lstStyle>
          <a:p>
            <a:pPr/>
            <a:r>
              <a:t>モデル準備</a:t>
            </a:r>
          </a:p>
        </p:txBody>
      </p:sp>
      <p:sp>
        <p:nvSpPr>
          <p:cNvPr id="72" name="Shape 6"/>
          <p:cNvSpPr/>
          <p:nvPr/>
        </p:nvSpPr>
        <p:spPr>
          <a:xfrm>
            <a:off x="676655" y="3429000"/>
            <a:ext cx="219456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7"/>
          <p:cNvSpPr txBox="1"/>
          <p:nvPr/>
        </p:nvSpPr>
        <p:spPr>
          <a:xfrm>
            <a:off x="676655" y="3457590"/>
            <a:ext cx="2194562" cy="509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5000"/>
              </a:lnSpc>
              <a:defRPr b="1" sz="1700"/>
            </a:pPr>
            <a:r>
              <a:t>InterMine model</a:t>
            </a:r>
          </a:p>
          <a:p>
            <a:pPr algn="ctr">
              <a:lnSpc>
                <a:spcPct val="95000"/>
              </a:lnSpc>
              <a:defRPr sz="17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InterMine モデル</a:t>
            </a:r>
          </a:p>
        </p:txBody>
      </p:sp>
      <p:sp>
        <p:nvSpPr>
          <p:cNvPr id="74" name="Shape 8"/>
          <p:cNvSpPr/>
          <p:nvPr/>
        </p:nvSpPr>
        <p:spPr>
          <a:xfrm>
            <a:off x="676655" y="4123944"/>
            <a:ext cx="2194562" cy="56692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lIns="45719" rIns="45719"/>
          <a:lstStyle/>
          <a:p>
            <a:pPr>
              <a:defRPr sz="1700"/>
            </a:pPr>
          </a:p>
        </p:txBody>
      </p:sp>
      <p:sp>
        <p:nvSpPr>
          <p:cNvPr id="75" name="Text 9"/>
          <p:cNvSpPr txBox="1"/>
          <p:nvPr/>
        </p:nvSpPr>
        <p:spPr>
          <a:xfrm>
            <a:off x="676655" y="4152534"/>
            <a:ext cx="2194562" cy="509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5000"/>
              </a:lnSpc>
              <a:defRPr b="1" sz="1700"/>
            </a:pPr>
            <a:r>
              <a:t>rdf-config models</a:t>
            </a:r>
          </a:p>
          <a:p>
            <a:pPr algn="ctr">
              <a:lnSpc>
                <a:spcPct val="95000"/>
              </a:lnSpc>
              <a:defRPr sz="17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rdf-config モデル</a:t>
            </a:r>
          </a:p>
        </p:txBody>
      </p:sp>
      <p:sp>
        <p:nvSpPr>
          <p:cNvPr id="76" name="Shape 10"/>
          <p:cNvSpPr/>
          <p:nvPr/>
        </p:nvSpPr>
        <p:spPr>
          <a:xfrm>
            <a:off x="3072383" y="3360420"/>
            <a:ext cx="274321" cy="1"/>
          </a:xfrm>
          <a:prstGeom prst="line">
            <a:avLst/>
          </a:prstGeom>
          <a:ln w="38100">
            <a:solidFill>
              <a:srgbClr val="9CBE3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11"/>
          <p:cNvSpPr/>
          <p:nvPr/>
        </p:nvSpPr>
        <p:spPr>
          <a:xfrm>
            <a:off x="3401567" y="1828800"/>
            <a:ext cx="2487169" cy="3063240"/>
          </a:xfrm>
          <a:prstGeom prst="roundRect">
            <a:avLst>
              <a:gd name="adj" fmla="val 3676"/>
            </a:avLst>
          </a:prstGeom>
          <a:solidFill>
            <a:srgbClr val="F7F0DA"/>
          </a:solidFill>
          <a:ln w="12700">
            <a:solidFill>
              <a:srgbClr val="B9962E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" name="Shape 12"/>
          <p:cNvSpPr/>
          <p:nvPr/>
        </p:nvSpPr>
        <p:spPr>
          <a:xfrm>
            <a:off x="4334255" y="2048255"/>
            <a:ext cx="621793" cy="621793"/>
          </a:xfrm>
          <a:prstGeom prst="ellipse">
            <a:avLst/>
          </a:prstGeom>
          <a:solidFill>
            <a:srgbClr val="B9962E"/>
          </a:solidFill>
          <a:ln w="12700">
            <a:miter lim="400000"/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79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471415" y="2185416"/>
            <a:ext cx="347473" cy="347473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ext 13"/>
          <p:cNvSpPr txBox="1"/>
          <p:nvPr/>
        </p:nvSpPr>
        <p:spPr>
          <a:xfrm>
            <a:off x="3401567" y="2790410"/>
            <a:ext cx="2487169" cy="27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/>
            </a:lvl1pPr>
          </a:lstStyle>
          <a:p>
            <a:pPr/>
            <a:r>
              <a:t>2 · Map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3401567" y="3054731"/>
            <a:ext cx="2487169" cy="27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100">
                <a:latin typeface="Noto Sans CJK JP"/>
                <a:ea typeface="Noto Sans CJK JP"/>
                <a:cs typeface="Noto Sans CJK JP"/>
                <a:sym typeface="Noto Sans CJK JP"/>
              </a:defRPr>
            </a:lvl1pPr>
          </a:lstStyle>
          <a:p>
            <a:pPr/>
            <a:r>
              <a:t>対応づけ</a:t>
            </a:r>
          </a:p>
        </p:txBody>
      </p:sp>
      <p:sp>
        <p:nvSpPr>
          <p:cNvPr id="82" name="Shape 15"/>
          <p:cNvSpPr/>
          <p:nvPr/>
        </p:nvSpPr>
        <p:spPr>
          <a:xfrm>
            <a:off x="3547871" y="3429000"/>
            <a:ext cx="2194561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3547871" y="3457590"/>
            <a:ext cx="2194561" cy="509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5000"/>
              </a:lnSpc>
              <a:defRPr b="1" sz="1700"/>
            </a:pPr>
            <a:r>
              <a:t>Crosswalk — term URIs</a:t>
            </a:r>
          </a:p>
          <a:p>
            <a:pPr algn="ctr">
              <a:lnSpc>
                <a:spcPct val="95000"/>
              </a:lnSpc>
              <a:defRPr sz="17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用語 URI で対応</a:t>
            </a:r>
          </a:p>
        </p:txBody>
      </p:sp>
      <p:sp>
        <p:nvSpPr>
          <p:cNvPr id="84" name="Shape 17"/>
          <p:cNvSpPr/>
          <p:nvPr/>
        </p:nvSpPr>
        <p:spPr>
          <a:xfrm>
            <a:off x="3547871" y="4123944"/>
            <a:ext cx="2194561" cy="56692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8"/>
          <p:cNvSpPr txBox="1"/>
          <p:nvPr/>
        </p:nvSpPr>
        <p:spPr>
          <a:xfrm>
            <a:off x="3547871" y="4168409"/>
            <a:ext cx="2194561" cy="4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5000"/>
              </a:lnSpc>
              <a:defRPr b="1" sz="1700"/>
            </a:pPr>
            <a:r>
              <a:t>Curate &amp; flatten</a:t>
            </a:r>
          </a:p>
          <a:p>
            <a:pPr algn="ctr">
              <a:lnSpc>
                <a:spcPct val="95000"/>
              </a:lnSpc>
              <a:defRPr sz="17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調整・平坦化</a:t>
            </a:r>
          </a:p>
        </p:txBody>
      </p:sp>
      <p:sp>
        <p:nvSpPr>
          <p:cNvPr id="86" name="Shape 19"/>
          <p:cNvSpPr/>
          <p:nvPr/>
        </p:nvSpPr>
        <p:spPr>
          <a:xfrm>
            <a:off x="5943599" y="3360420"/>
            <a:ext cx="274322" cy="1"/>
          </a:xfrm>
          <a:prstGeom prst="line">
            <a:avLst/>
          </a:prstGeom>
          <a:ln w="38100">
            <a:solidFill>
              <a:srgbClr val="9CBE3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Shape 20"/>
          <p:cNvSpPr/>
          <p:nvPr/>
        </p:nvSpPr>
        <p:spPr>
          <a:xfrm>
            <a:off x="6272784" y="1828800"/>
            <a:ext cx="2487169" cy="3063240"/>
          </a:xfrm>
          <a:prstGeom prst="roundRect">
            <a:avLst>
              <a:gd name="adj" fmla="val 3676"/>
            </a:avLst>
          </a:prstGeom>
          <a:solidFill>
            <a:srgbClr val="EDF0F1"/>
          </a:solidFill>
          <a:ln w="12700">
            <a:solidFill>
              <a:srgbClr val="566470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" name="Shape 21"/>
          <p:cNvSpPr/>
          <p:nvPr/>
        </p:nvSpPr>
        <p:spPr>
          <a:xfrm>
            <a:off x="7205471" y="2048255"/>
            <a:ext cx="621793" cy="621793"/>
          </a:xfrm>
          <a:prstGeom prst="ellipse">
            <a:avLst/>
          </a:prstGeom>
          <a:solidFill>
            <a:srgbClr val="566470"/>
          </a:solidFill>
          <a:ln w="12700">
            <a:miter lim="400000"/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89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342631" y="2185416"/>
            <a:ext cx="347473" cy="347473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Text 22"/>
          <p:cNvSpPr txBox="1"/>
          <p:nvPr/>
        </p:nvSpPr>
        <p:spPr>
          <a:xfrm>
            <a:off x="6272784" y="2790410"/>
            <a:ext cx="2487169" cy="27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/>
            </a:lvl1pPr>
          </a:lstStyle>
          <a:p>
            <a:pPr/>
            <a:r>
              <a:t>3 · Extract</a:t>
            </a:r>
          </a:p>
        </p:txBody>
      </p:sp>
      <p:sp>
        <p:nvSpPr>
          <p:cNvPr id="91" name="Text 23"/>
          <p:cNvSpPr txBox="1"/>
          <p:nvPr/>
        </p:nvSpPr>
        <p:spPr>
          <a:xfrm>
            <a:off x="6272784" y="3054731"/>
            <a:ext cx="2487169" cy="27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100">
                <a:latin typeface="Noto Sans CJK JP"/>
                <a:ea typeface="Noto Sans CJK JP"/>
                <a:cs typeface="Noto Sans CJK JP"/>
                <a:sym typeface="Noto Sans CJK JP"/>
              </a:defRPr>
            </a:lvl1pPr>
          </a:lstStyle>
          <a:p>
            <a:pPr/>
            <a:r>
              <a:t>抽出</a:t>
            </a:r>
          </a:p>
        </p:txBody>
      </p:sp>
      <p:sp>
        <p:nvSpPr>
          <p:cNvPr id="92" name="Shape 24"/>
          <p:cNvSpPr/>
          <p:nvPr/>
        </p:nvSpPr>
        <p:spPr>
          <a:xfrm>
            <a:off x="6419088" y="3429000"/>
            <a:ext cx="2194561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25"/>
          <p:cNvSpPr txBox="1"/>
          <p:nvPr/>
        </p:nvSpPr>
        <p:spPr>
          <a:xfrm>
            <a:off x="6419088" y="3457590"/>
            <a:ext cx="2194561" cy="509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5000"/>
              </a:lnSpc>
              <a:defRPr b="1" sz="1700"/>
            </a:pPr>
            <a:r>
              <a:t>SPARQL query</a:t>
            </a:r>
          </a:p>
          <a:p>
            <a:pPr algn="ctr">
              <a:lnSpc>
                <a:spcPct val="95000"/>
              </a:lnSpc>
              <a:defRPr sz="17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SPARQL クエリ</a:t>
            </a:r>
          </a:p>
        </p:txBody>
      </p:sp>
      <p:sp>
        <p:nvSpPr>
          <p:cNvPr id="94" name="Shape 26"/>
          <p:cNvSpPr/>
          <p:nvPr/>
        </p:nvSpPr>
        <p:spPr>
          <a:xfrm>
            <a:off x="6419088" y="4123944"/>
            <a:ext cx="2194561" cy="56692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27"/>
          <p:cNvSpPr txBox="1"/>
          <p:nvPr/>
        </p:nvSpPr>
        <p:spPr>
          <a:xfrm>
            <a:off x="6419088" y="4152534"/>
            <a:ext cx="2194561" cy="509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5000"/>
              </a:lnSpc>
              <a:defRPr b="1" sz="1700"/>
            </a:pPr>
            <a:r>
              <a:t>Fetch → clean TSV</a:t>
            </a:r>
          </a:p>
          <a:p>
            <a:pPr algn="ctr">
              <a:lnSpc>
                <a:spcPct val="95000"/>
              </a:lnSpc>
              <a:defRPr sz="17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取得・整形 (TSV)</a:t>
            </a:r>
          </a:p>
        </p:txBody>
      </p:sp>
      <p:sp>
        <p:nvSpPr>
          <p:cNvPr id="96" name="Shape 28"/>
          <p:cNvSpPr/>
          <p:nvPr/>
        </p:nvSpPr>
        <p:spPr>
          <a:xfrm>
            <a:off x="8814816" y="3360420"/>
            <a:ext cx="274321" cy="1"/>
          </a:xfrm>
          <a:prstGeom prst="line">
            <a:avLst/>
          </a:prstGeom>
          <a:ln w="38100">
            <a:solidFill>
              <a:srgbClr val="9CBE3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Shape 29"/>
          <p:cNvSpPr/>
          <p:nvPr/>
        </p:nvSpPr>
        <p:spPr>
          <a:xfrm>
            <a:off x="9144000" y="1828800"/>
            <a:ext cx="2487168" cy="3063240"/>
          </a:xfrm>
          <a:prstGeom prst="roundRect">
            <a:avLst>
              <a:gd name="adj" fmla="val 3676"/>
            </a:avLst>
          </a:prstGeom>
          <a:solidFill>
            <a:srgbClr val="F1F6E4"/>
          </a:solidFill>
          <a:ln w="12700">
            <a:solidFill>
              <a:srgbClr val="9CBE3B"/>
            </a:solidFill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" name="Shape 30"/>
          <p:cNvSpPr/>
          <p:nvPr/>
        </p:nvSpPr>
        <p:spPr>
          <a:xfrm>
            <a:off x="10076688" y="2048255"/>
            <a:ext cx="621793" cy="621793"/>
          </a:xfrm>
          <a:prstGeom prst="ellipse">
            <a:avLst/>
          </a:prstGeom>
          <a:solidFill>
            <a:srgbClr val="9CBE3B"/>
          </a:solidFill>
          <a:ln w="12700">
            <a:miter lim="400000"/>
          </a:ln>
          <a:effectLst>
            <a:outerShdw sx="100000" sy="100000" kx="0" ky="0" algn="b" rotWithShape="0" blurRad="50800" dist="19050" dir="5400000">
              <a:srgbClr val="000000">
                <a:alpha val="11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99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213847" y="2185416"/>
            <a:ext cx="347473" cy="347473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31"/>
          <p:cNvSpPr txBox="1"/>
          <p:nvPr/>
        </p:nvSpPr>
        <p:spPr>
          <a:xfrm>
            <a:off x="9144000" y="2790410"/>
            <a:ext cx="2487168" cy="27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/>
            </a:lvl1pPr>
          </a:lstStyle>
          <a:p>
            <a:pPr/>
            <a:r>
              <a:t>4 · Load</a:t>
            </a:r>
          </a:p>
        </p:txBody>
      </p:sp>
      <p:sp>
        <p:nvSpPr>
          <p:cNvPr id="101" name="Text 32"/>
          <p:cNvSpPr txBox="1"/>
          <p:nvPr/>
        </p:nvSpPr>
        <p:spPr>
          <a:xfrm>
            <a:off x="9144000" y="3054731"/>
            <a:ext cx="2487168" cy="27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100">
                <a:latin typeface="Noto Sans CJK JP"/>
                <a:ea typeface="Noto Sans CJK JP"/>
                <a:cs typeface="Noto Sans CJK JP"/>
                <a:sym typeface="Noto Sans CJK JP"/>
              </a:defRPr>
            </a:lvl1pPr>
          </a:lstStyle>
          <a:p>
            <a:pPr/>
            <a:r>
              <a:t>ロード</a:t>
            </a:r>
          </a:p>
        </p:txBody>
      </p:sp>
      <p:sp>
        <p:nvSpPr>
          <p:cNvPr id="102" name="Shape 33"/>
          <p:cNvSpPr/>
          <p:nvPr/>
        </p:nvSpPr>
        <p:spPr>
          <a:xfrm>
            <a:off x="9290304" y="3429000"/>
            <a:ext cx="2194561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34"/>
          <p:cNvSpPr txBox="1"/>
          <p:nvPr/>
        </p:nvSpPr>
        <p:spPr>
          <a:xfrm>
            <a:off x="9290304" y="3457590"/>
            <a:ext cx="2194561" cy="509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5000"/>
              </a:lnSpc>
              <a:defRPr b="1" sz="1700"/>
            </a:pPr>
            <a:r>
              <a:t>project.xml + keys</a:t>
            </a:r>
          </a:p>
          <a:p>
            <a:pPr algn="ctr">
              <a:lnSpc>
                <a:spcPct val="95000"/>
              </a:lnSpc>
              <a:defRPr sz="17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設定 + キー</a:t>
            </a:r>
          </a:p>
        </p:txBody>
      </p:sp>
      <p:sp>
        <p:nvSpPr>
          <p:cNvPr id="104" name="Shape 35"/>
          <p:cNvSpPr/>
          <p:nvPr/>
        </p:nvSpPr>
        <p:spPr>
          <a:xfrm>
            <a:off x="9290304" y="4123944"/>
            <a:ext cx="2194561" cy="56692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36"/>
          <p:cNvSpPr txBox="1"/>
          <p:nvPr/>
        </p:nvSpPr>
        <p:spPr>
          <a:xfrm>
            <a:off x="9290304" y="4150478"/>
            <a:ext cx="2194561" cy="513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5000"/>
              </a:lnSpc>
              <a:defRPr b="1" sz="1700"/>
            </a:pPr>
            <a:r>
              <a:t>Build → HumanMine</a:t>
            </a:r>
          </a:p>
          <a:p>
            <a:pPr algn="ctr">
              <a:lnSpc>
                <a:spcPct val="95000"/>
              </a:lnSpc>
              <a:defRPr sz="1700"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ビルド → HumanMine</a:t>
            </a:r>
          </a:p>
        </p:txBody>
      </p:sp>
      <p:sp>
        <p:nvSpPr>
          <p:cNvPr id="106" name="Text 37"/>
          <p:cNvSpPr txBox="1"/>
          <p:nvPr/>
        </p:nvSpPr>
        <p:spPr>
          <a:xfrm>
            <a:off x="548639" y="5394959"/>
            <a:ext cx="11064242" cy="998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5000"/>
              </a:lnSpc>
              <a:defRPr b="1" sz="2000">
                <a:solidFill>
                  <a:srgbClr val="2B2B2B"/>
                </a:solidFill>
              </a:defRPr>
            </a:pPr>
            <a:r>
              <a:t>Toshiaki Katayama, Shuichi Kawashima, Gos Micklem</a:t>
            </a:r>
          </a:p>
          <a:p>
            <a:pPr algn="ctr">
              <a:lnSpc>
                <a:spcPct val="125000"/>
              </a:lnSpc>
              <a:defRPr>
                <a:solidFill>
                  <a:srgbClr val="444444"/>
                </a:solidFill>
              </a:defRPr>
            </a:pPr>
            <a:r>
              <a:t>DBCLS · RDF Portal   —   with great help from Claude.ai</a:t>
            </a:r>
            <a:endParaRPr sz="2000"/>
          </a:p>
          <a:p>
            <a:pPr algn="ctr">
              <a:lnSpc>
                <a:spcPct val="125000"/>
              </a:lnSpc>
              <a:defRPr>
                <a:solidFill>
                  <a:srgbClr val="3C3C3C"/>
                </a:solidFill>
                <a:latin typeface="Noto Sans CJK JP"/>
                <a:ea typeface="Noto Sans CJK JP"/>
                <a:cs typeface="Noto Sans CJK JP"/>
                <a:sym typeface="Noto Sans CJK JP"/>
              </a:defRPr>
            </a:pPr>
            <a:r>
              <a:t>共同研究：片山 俊明・川島 秀一（DBCLS・RDF Portal）／ Claude.ai の多大な協力を得て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